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0" r:id="rId30"/>
    <p:sldId id="291" r:id="rId31"/>
    <p:sldId id="283" r:id="rId32"/>
    <p:sldId id="284" r:id="rId33"/>
    <p:sldId id="292" r:id="rId34"/>
    <p:sldId id="285" r:id="rId35"/>
    <p:sldId id="293" r:id="rId36"/>
    <p:sldId id="286" r:id="rId37"/>
    <p:sldId id="294" r:id="rId38"/>
    <p:sldId id="287" r:id="rId39"/>
    <p:sldId id="288" r:id="rId40"/>
  </p:sldIdLst>
  <p:sldSz cx="12192000" cy="6858000"/>
  <p:notesSz cx="6858000" cy="9144000"/>
  <p:embeddedFontLst>
    <p:embeddedFont>
      <p:font typeface="Arimo" panose="020B0604020202020204" charset="0"/>
      <p:regular r:id="rId42"/>
      <p:bold r:id="rId43"/>
      <p:italic r:id="rId44"/>
      <p:boldItalic r:id="rId45"/>
    </p:embeddedFont>
    <p:embeddedFont>
      <p:font typeface="Cascadia Code" panose="020B0609020000020004" pitchFamily="49" charset="0"/>
      <p:regular r:id="rId46"/>
      <p:bold r:id="rId47"/>
      <p:italic r:id="rId48"/>
      <p:boldItalic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Quattrocento Sans" panose="020B0502050000020003" pitchFamily="34" charset="0"/>
      <p:regular r:id="rId54"/>
      <p:bold r:id="rId55"/>
      <p:italic r:id="rId56"/>
      <p:boldItalic r:id="rId57"/>
    </p:embeddedFont>
    <p:embeddedFont>
      <p:font typeface="Verdana" panose="020B060403050404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jX9nTlurxV3FubeT3ZECFlHZ62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164BD5-A23C-46B6-9D64-E2CE24AB4394}">
  <a:tblStyle styleId="{60164BD5-A23C-46B6-9D64-E2CE24AB43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CD0FC2E3-0393-E6EB-BEA6-8BBF3098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>
            <a:extLst>
              <a:ext uri="{FF2B5EF4-FFF2-40B4-BE49-F238E27FC236}">
                <a16:creationId xmlns:a16="http://schemas.microsoft.com/office/drawing/2014/main" id="{7B15A785-70A7-586A-7481-2ECE0616B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:notes">
            <a:extLst>
              <a:ext uri="{FF2B5EF4-FFF2-40B4-BE49-F238E27FC236}">
                <a16:creationId xmlns:a16="http://schemas.microsoft.com/office/drawing/2014/main" id="{A2D508BB-EA54-AA16-72AE-9B01E6FD5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5695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b2089c20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bb2089c20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b2089c20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bb2089c20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15000"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install.ph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HP/func_filesystem_filectime.asp" TargetMode="External"/><Relationship Id="rId13" Type="http://schemas.openxmlformats.org/officeDocument/2006/relationships/hyperlink" Target="https://www.w3schools.com/PHP/func_filesystem_fileperms.asp" TargetMode="External"/><Relationship Id="rId3" Type="http://schemas.openxmlformats.org/officeDocument/2006/relationships/hyperlink" Target="https://www.w3schools.com/PHP/func_filesystem_file.asp" TargetMode="External"/><Relationship Id="rId7" Type="http://schemas.openxmlformats.org/officeDocument/2006/relationships/hyperlink" Target="https://www.w3schools.com/PHP/func_filesystem_fileatime.asp" TargetMode="External"/><Relationship Id="rId12" Type="http://schemas.openxmlformats.org/officeDocument/2006/relationships/hyperlink" Target="https://www.w3schools.com/PHP/func_filesystem_fileowner.asp" TargetMode="External"/><Relationship Id="rId2" Type="http://schemas.openxmlformats.org/officeDocument/2006/relationships/notesSlide" Target="../notesSlides/notesSlide30.xml"/><Relationship Id="rId16" Type="http://schemas.openxmlformats.org/officeDocument/2006/relationships/hyperlink" Target="https://www.w3schools.com/PHP/func_filesystem_flock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HP/func_filesystem_file_put_contents.asp" TargetMode="External"/><Relationship Id="rId11" Type="http://schemas.openxmlformats.org/officeDocument/2006/relationships/hyperlink" Target="https://www.w3schools.com/PHP/func_filesystem_filemtime.asp" TargetMode="External"/><Relationship Id="rId5" Type="http://schemas.openxmlformats.org/officeDocument/2006/relationships/hyperlink" Target="https://www.w3schools.com/PHP/func_filesystem_file_get_contents.asp" TargetMode="External"/><Relationship Id="rId15" Type="http://schemas.openxmlformats.org/officeDocument/2006/relationships/hyperlink" Target="https://www.w3schools.com/PHP/func_filesystem_filetype.asp" TargetMode="External"/><Relationship Id="rId10" Type="http://schemas.openxmlformats.org/officeDocument/2006/relationships/hyperlink" Target="https://www.w3schools.com/PHP/func_filesystem_fileinode.asp" TargetMode="External"/><Relationship Id="rId4" Type="http://schemas.openxmlformats.org/officeDocument/2006/relationships/hyperlink" Target="https://www.w3schools.com/PHP/func_filesystem_file_exists.asp" TargetMode="External"/><Relationship Id="rId9" Type="http://schemas.openxmlformats.org/officeDocument/2006/relationships/hyperlink" Target="https://www.w3schools.com/PHP/func_filesystem_filegroup.asp" TargetMode="External"/><Relationship Id="rId14" Type="http://schemas.openxmlformats.org/officeDocument/2006/relationships/hyperlink" Target="https://www.w3schools.com/PHP/func_filesystem_filesize.asp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HP/func_directory_opendir.asp" TargetMode="External"/><Relationship Id="rId3" Type="http://schemas.openxmlformats.org/officeDocument/2006/relationships/hyperlink" Target="https://www.w3schools.com/PHP/func_directory_chdir.asp" TargetMode="External"/><Relationship Id="rId7" Type="http://schemas.openxmlformats.org/officeDocument/2006/relationships/hyperlink" Target="https://www.w3schools.com/PHP/func_directory_getcwd.asp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HP/func_directory_dir.asp" TargetMode="External"/><Relationship Id="rId11" Type="http://schemas.openxmlformats.org/officeDocument/2006/relationships/hyperlink" Target="https://www.w3schools.com/PHP/func_directory_scandir.asp" TargetMode="External"/><Relationship Id="rId5" Type="http://schemas.openxmlformats.org/officeDocument/2006/relationships/hyperlink" Target="https://www.w3schools.com/PHP/func_directory_closedir.asp" TargetMode="External"/><Relationship Id="rId10" Type="http://schemas.openxmlformats.org/officeDocument/2006/relationships/hyperlink" Target="https://www.w3schools.com/PHP/func_directory_rewinddir.asp" TargetMode="External"/><Relationship Id="rId4" Type="http://schemas.openxmlformats.org/officeDocument/2006/relationships/hyperlink" Target="https://www.w3schools.com/PHP/func_directory_chroot.asp" TargetMode="External"/><Relationship Id="rId9" Type="http://schemas.openxmlformats.org/officeDocument/2006/relationships/hyperlink" Target="https://www.w3schools.com/PHP/func_directory_readdir.asp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98494" y="18485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Verdana"/>
              <a:buNone/>
            </a:pPr>
            <a:r>
              <a:rPr lang="en-US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Hypertext Preprocessor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 descr="Php Elephant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639" y="3923512"/>
            <a:ext cx="3023952" cy="2071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09598" y="1031864"/>
            <a:ext cx="95295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PHP is a dynamic , server-side scripting language, and used to make dynamic and interactive Web pages.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Executed on Server , Result will be in HTML.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Compatible with various Databases ,Servers like Apache , Tomcat  and Platforms Windows , Linux , MacOS… etc.</a:t>
            </a: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PHP is a widely-used, </a:t>
            </a:r>
            <a:r>
              <a:rPr lang="en-US" sz="1600" b="0" i="0" u="none" strike="sng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(open Source), and efficient alternative to competitors such as Microsoft's ASP(Active Server Pages).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Latest Version of Php is PHP 8.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5.</a:t>
            </a:r>
            <a:endParaRPr/>
          </a:p>
        </p:txBody>
      </p:sp>
      <p:pic>
        <p:nvPicPr>
          <p:cNvPr id="92" name="Google Shape;92;p2" descr="PHP logo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9725" y="4076699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841459" y="1569793"/>
            <a:ext cx="49665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generate dynamic page content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perform functionalities of files on the server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collect form data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send and receive cookies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operate /access your database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be used to control user-access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encrypt data /Hashing data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be embedded in HTML file with the help of </a:t>
            </a:r>
            <a:r>
              <a:rPr lang="en-US" sz="1600" b="0" i="0" u="none" strike="noStrike" cap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&lt;?php</a:t>
            </a:r>
            <a:endParaRPr sz="1600" b="0" i="0" u="none" strike="noStrike" cap="none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DEDED"/>
                </a:solidFill>
                <a:latin typeface="Verdana"/>
                <a:ea typeface="Verdana"/>
                <a:cs typeface="Verdana"/>
                <a:sym typeface="Verdana"/>
              </a:rPr>
              <a:t>//code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?&gt;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-US" sz="16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rPr>
              <a:t>can be saved using </a:t>
            </a:r>
            <a:r>
              <a:rPr lang="en-US" sz="1600" b="0" i="0" u="none" strike="noStrike" cap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“.php” </a:t>
            </a:r>
            <a:r>
              <a:rPr lang="en-US" sz="16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rPr>
              <a:t>extension.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00634" y="949369"/>
            <a:ext cx="20080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PHP can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 descr="26 Best PHP IDE and Code Editor Tools - Technostacks"/>
          <p:cNvPicPr preferRelativeResize="0"/>
          <p:nvPr/>
        </p:nvPicPr>
        <p:blipFill rotWithShape="1">
          <a:blip r:embed="rId3">
            <a:alphaModFix/>
          </a:blip>
          <a:srcRect r="49153"/>
          <a:stretch/>
        </p:blipFill>
        <p:spPr>
          <a:xfrm>
            <a:off x="6299948" y="861034"/>
            <a:ext cx="484318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 descr="How PHP Works - YouTube"/>
          <p:cNvPicPr preferRelativeResize="0"/>
          <p:nvPr/>
        </p:nvPicPr>
        <p:blipFill rotWithShape="1">
          <a:blip r:embed="rId3">
            <a:alphaModFix/>
          </a:blip>
          <a:srcRect b="16078"/>
          <a:stretch/>
        </p:blipFill>
        <p:spPr>
          <a:xfrm>
            <a:off x="436601" y="836113"/>
            <a:ext cx="10985450" cy="5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5"/>
          <p:cNvGraphicFramePr/>
          <p:nvPr/>
        </p:nvGraphicFramePr>
        <p:xfrm>
          <a:off x="528918" y="955005"/>
          <a:ext cx="11152075" cy="5387910"/>
        </p:xfrm>
        <a:graphic>
          <a:graphicData uri="http://schemas.openxmlformats.org/drawingml/2006/table">
            <a:tbl>
              <a:tblPr>
                <a:noFill/>
                <a:tableStyleId>{60164BD5-A23C-46B6-9D64-E2CE24AB4394}</a:tableStyleId>
              </a:tblPr>
              <a:tblGrid>
                <a:gridCol w="25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C000"/>
                          </a:solidFill>
                        </a:rPr>
                        <a:t>Keyword</a:t>
                      </a:r>
                      <a:endParaRPr/>
                    </a:p>
                  </a:txBody>
                  <a:tcPr marL="20725" marR="20725" marT="10350" marB="10350" anchor="b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C000"/>
                          </a:solidFill>
                        </a:rPr>
                        <a:t>Functionality</a:t>
                      </a:r>
                      <a:endParaRPr/>
                    </a:p>
                  </a:txBody>
                  <a:tcPr marL="20725" marR="20725" marT="10350" marB="10350" anchor="b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C000"/>
                          </a:solidFill>
                        </a:rPr>
                        <a:t>Definition</a:t>
                      </a:r>
                      <a:endParaRPr/>
                    </a:p>
                  </a:txBody>
                  <a:tcPr marL="20725" marR="20725" marT="10350" marB="10350" anchor="b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echo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Output one or more strings.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echo "Hello, 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vasu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!";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print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Output a string.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print "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buenas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dias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!";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$variable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Declares a variable.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$name = "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sundar pichai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";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define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Defines a constant.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define("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host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", </a:t>
                      </a: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‘localhost’</a:t>
                      </a: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);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function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Declares a function.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function greet($name) { echo "Hello, $name!"; }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return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Exits a function and returns a value.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function add($a, $b) { return $a + $b; }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include, require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Includes and evaluates a specified file.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 "header.php";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include_once, require_once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Includes a file only once.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include_once "config.php";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$_GET, $_POST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Super-global arrays for collecting form data.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php $username = $_POST['username'];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$_SESSION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Super-global array for storing session variables.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php session_start(); $_SESSION['user_id'] = 123;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0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json_encode, json_decode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Encodes and decodes JSON data.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php $data = array("name" =&gt; "John", "age" =&gt; 30); $json = json_encode($data);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class, new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Defines a class and creates an instance of it.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php class Car { /* properties and methods */ } $myCar = new Car();</a:t>
                      </a:r>
                      <a:endParaRPr/>
                    </a:p>
                  </a:txBody>
                  <a:tcPr marL="20725" marR="20725" marT="10350" marB="10350" anchor="ctr">
                    <a:lnL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3" name="Google Shape;113;p5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/>
        </p:nvSpPr>
        <p:spPr>
          <a:xfrm>
            <a:off x="1075765" y="887506"/>
            <a:ext cx="30748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Prerequisites for PHP 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1075763" y="1398494"/>
            <a:ext cx="5665695" cy="281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of HTML , CSS , Js.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Host or Server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Eg: Apache Tomcat , Xampp , Wampp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PHP in PC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Databases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Eg:MySQL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147483" y="6100046"/>
            <a:ext cx="5289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PHP website (PHP.net) has installation instructions for PHP: </a:t>
            </a:r>
            <a:r>
              <a:rPr lang="en-US" sz="1200" b="0" i="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http://php.net/manual/en/install.php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 descr="PHP 7 Features || GoodWorkLabs || Tech Updates ||"/>
          <p:cNvPicPr preferRelativeResize="0"/>
          <p:nvPr/>
        </p:nvPicPr>
        <p:blipFill rotWithShape="1">
          <a:blip r:embed="rId4">
            <a:alphaModFix/>
          </a:blip>
          <a:srcRect l="25873" r="28591" b="2496"/>
          <a:stretch/>
        </p:blipFill>
        <p:spPr>
          <a:xfrm>
            <a:off x="7810800" y="2359200"/>
            <a:ext cx="2418624" cy="27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147483" y="4012876"/>
            <a:ext cx="6096000" cy="189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know php version after successful Installation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phpversion();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9486025" y="642872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797860" y="519953"/>
            <a:ext cx="30748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Syntax 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97860" y="972930"/>
            <a:ext cx="10309411" cy="5575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PHP script can be placed anywhere in the document.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PHP script starts with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&lt;?php and ends with ?&gt;: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endParaRPr sz="2400" b="1" i="0" u="none" strike="noStrike" cap="none">
              <a:solidFill>
                <a:srgbClr val="FF5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// PHP code goes here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statements end with a semicolon (;).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Case Sensitivity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PHP, keywords (e.g. if, else, while, echo, etc.), classes, functions, and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-defined functions are </a:t>
            </a:r>
            <a:r>
              <a:rPr lang="en-US" sz="2400" b="1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not case-sensitive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Eg: Echo “CSE” and echo “CSE” gives same result = CSE .</a:t>
            </a:r>
            <a:endParaRPr sz="2400" b="1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/>
        </p:nvSpPr>
        <p:spPr>
          <a:xfrm>
            <a:off x="777861" y="323828"/>
            <a:ext cx="87570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// This is a single-line comment</a:t>
            </a:r>
            <a:endParaRPr>
              <a:solidFill>
                <a:srgbClr val="FF505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# This is also a single-line comment</a:t>
            </a:r>
            <a:endParaRPr>
              <a:solidFill>
                <a:srgbClr val="FF505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/* This is a</a:t>
            </a:r>
            <a:endParaRPr>
              <a:solidFill>
                <a:srgbClr val="FF505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multi-line comment */</a:t>
            </a:r>
            <a:endParaRPr>
              <a:solidFill>
                <a:srgbClr val="FF505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multi-line comment syntax can also be used to prevent execution of parts inside a code-line:</a:t>
            </a:r>
            <a:endParaRPr sz="2400" b="0" i="0" u="none" strike="noStrike" cap="none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1192305" y="848752"/>
            <a:ext cx="6096000" cy="58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 Variables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1192299" y="1228600"/>
            <a:ext cx="9780600" cy="5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 starts with the </a:t>
            </a:r>
            <a:r>
              <a:rPr lang="en-US" sz="23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sign, followed by the </a:t>
            </a:r>
            <a:r>
              <a:rPr lang="en-US" sz="2000" b="1" i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name of the variable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/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variable name </a:t>
            </a:r>
            <a:r>
              <a:rPr lang="en-US" sz="2000" b="1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cannot start with a number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must </a:t>
            </a:r>
            <a:r>
              <a:rPr lang="en-US" sz="2000" b="1" i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start with a letter or the underscore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character.</a:t>
            </a:r>
            <a:endParaRPr sz="1600"/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only contain </a:t>
            </a:r>
            <a:r>
              <a:rPr lang="en-US" sz="2000" b="1" i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alpha-numeric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characters and underscores (A-z, 0-9, and _ )</a:t>
            </a:r>
            <a:endParaRPr sz="20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 has no command for declaring a variable. It is created the moment you first assign a value to it(dynamic typing).</a:t>
            </a:r>
            <a:endParaRPr sz="1600"/>
          </a:p>
          <a:p>
            <a:pPr marL="28575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300"/>
              <a:buFont typeface="Noto Sans Symbols"/>
              <a:buChar char="▪"/>
            </a:pPr>
            <a:r>
              <a:rPr lang="en-US" sz="2300" b="1" i="1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All variable names are case-sensitive!</a:t>
            </a:r>
            <a:endParaRPr sz="1900" b="1" i="1">
              <a:solidFill>
                <a:srgbClr val="FF505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Eg : $name = “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sri chidhambaram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echo </a:t>
            </a:r>
            <a:r>
              <a:rPr lang="en-US" sz="20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“my name is .$name &lt;br&gt;” – &gt; sri chidhambaram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echo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“my name is .$Name &lt;br&gt;” –&gt; will be Error</a:t>
            </a:r>
            <a:endParaRPr sz="1600"/>
          </a:p>
        </p:txBody>
      </p:sp>
      <p:sp>
        <p:nvSpPr>
          <p:cNvPr id="143" name="Google Shape;143;p10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/>
        </p:nvSpPr>
        <p:spPr>
          <a:xfrm>
            <a:off x="832597" y="834900"/>
            <a:ext cx="113595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 Variables Scope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PHP, variables can be declared anywhere in the script.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scope of a variable is the part of the script where the variable can be referenced/used.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 has three different variable scopes:</a:t>
            </a:r>
            <a:endParaRPr sz="1600"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sz="1600"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sz="1600"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variable declared </a:t>
            </a:r>
            <a:r>
              <a:rPr lang="en-US" sz="2000" b="1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outside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 function has a </a:t>
            </a:r>
            <a:r>
              <a:rPr lang="en-US" sz="2000" b="0" i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GLOBAL SCOPE </a:t>
            </a:r>
            <a:endParaRPr sz="16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can only be </a:t>
            </a:r>
            <a:r>
              <a:rPr lang="en-US" sz="2000" b="1" i="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accessed outside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</a:t>
            </a:r>
            <a:endParaRPr sz="1600"/>
          </a:p>
        </p:txBody>
      </p:sp>
      <p:sp>
        <p:nvSpPr>
          <p:cNvPr id="149" name="Google Shape;149;p11"/>
          <p:cNvSpPr txBox="1"/>
          <p:nvPr/>
        </p:nvSpPr>
        <p:spPr>
          <a:xfrm>
            <a:off x="699247" y="5139594"/>
            <a:ext cx="6513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variable declared </a:t>
            </a:r>
            <a:r>
              <a:rPr lang="en-US" sz="2000" b="1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 function has a </a:t>
            </a:r>
            <a:r>
              <a:rPr lang="en-US" sz="2000" b="1" i="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LOCAL SCOPE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can only be </a:t>
            </a:r>
            <a:r>
              <a:rPr lang="en-US" sz="2000" b="1" i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accessed within 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function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1777696" y="1317316"/>
            <a:ext cx="7611000" cy="4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 is used to access a global variable from within a function.</a:t>
            </a:r>
            <a:r>
              <a:rPr lang="en-US" sz="21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before the variables (inside the function):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4E0B2"/>
                </a:solidFill>
                <a:latin typeface="Calibri"/>
                <a:ea typeface="Calibri"/>
                <a:cs typeface="Calibri"/>
                <a:sym typeface="Calibri"/>
              </a:rPr>
              <a:t>eg:</a:t>
            </a:r>
            <a:br>
              <a:rPr lang="en-US" sz="21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$var1=“password”; 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function global_access() { 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FF5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global</a:t>
            </a: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 $var1;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FF5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global </a:t>
            </a: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$var2=$var1; 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“ $var1 is correct” ;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} 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global_access();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206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206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“$var2 is accessed inside and outside a function”;</a:t>
            </a:r>
            <a:endParaRPr sz="2100" b="0" i="0">
              <a:solidFill>
                <a:srgbClr val="002060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/>
        </p:nvSpPr>
        <p:spPr>
          <a:xfrm>
            <a:off x="1167093" y="922779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 Variable Static Scope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1174376" y="1376552"/>
            <a:ext cx="6096000" cy="508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 function is completed/executed, all of its variables are deleted.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However, sometimes we want a local variable NOT to be deleted. We need it for a further job.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we use 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static keyword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variable.</a:t>
            </a:r>
            <a:endParaRPr sz="18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$var1=“static”;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$price=10;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Then, each time the function is called, that variable will still have the information it contained from the last time the function was called.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/>
        </p:nvSpPr>
        <p:spPr>
          <a:xfrm>
            <a:off x="995082" y="950705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PHP Data </a:t>
            </a: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ypes: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String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Integer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(floating point numbers - also called double)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Array – ()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Object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NULL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Resource – ref point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932329" y="3813027"/>
            <a:ext cx="516367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dana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 know the data type of a variable, use the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var_dump() function.</a:t>
            </a:r>
            <a:endParaRPr sz="18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4" descr="Pokkiri Meme Templates Tamil - Meme templates(tamil memes) create a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8547" y="2244236"/>
            <a:ext cx="3858846" cy="3956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/>
          <p:nvPr/>
        </p:nvSpPr>
        <p:spPr>
          <a:xfrm>
            <a:off x="7020739" y="2243366"/>
            <a:ext cx="44744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soon as you declare variable </a:t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7203189" y="4115232"/>
            <a:ext cx="44744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*PHP be like : Undhi Data Type undi</a:t>
            </a:r>
            <a:endParaRPr sz="1200" b="1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7203189" y="2070847"/>
            <a:ext cx="4292011" cy="44016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/>
        </p:nvSpPr>
        <p:spPr>
          <a:xfrm>
            <a:off x="1398494" y="1574646"/>
            <a:ext cx="6096000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PHP Strings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sequence of characters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Usually in </a:t>
            </a: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either double quotation marks, or single quotation marks</a:t>
            </a:r>
            <a:endParaRPr sz="1800" b="0" i="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Diff b/w “” and ‘’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String Modification – changes content of str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Concatenation – merges two str with .	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Slicing – extract part of str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/>
        </p:nvSpPr>
        <p:spPr>
          <a:xfrm>
            <a:off x="501444" y="550615"/>
            <a:ext cx="3519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String Functions</a:t>
            </a:r>
            <a:endParaRPr sz="2600" b="1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92BF42-EAFF-E2C8-4576-A13D149D2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40862"/>
              </p:ext>
            </p:extLst>
          </p:nvPr>
        </p:nvGraphicFramePr>
        <p:xfrm>
          <a:off x="914400" y="1423448"/>
          <a:ext cx="9756742" cy="5344892"/>
        </p:xfrm>
        <a:graphic>
          <a:graphicData uri="http://schemas.openxmlformats.org/drawingml/2006/table">
            <a:tbl>
              <a:tblPr>
                <a:tableStyleId>{60164BD5-A23C-46B6-9D64-E2CE24AB4394}</a:tableStyleId>
              </a:tblPr>
              <a:tblGrid>
                <a:gridCol w="7239786">
                  <a:extLst>
                    <a:ext uri="{9D8B030D-6E8A-4147-A177-3AD203B41FA5}">
                      <a16:colId xmlns:a16="http://schemas.microsoft.com/office/drawing/2014/main" val="404801724"/>
                    </a:ext>
                  </a:extLst>
                </a:gridCol>
                <a:gridCol w="2516956">
                  <a:extLst>
                    <a:ext uri="{9D8B030D-6E8A-4147-A177-3AD203B41FA5}">
                      <a16:colId xmlns:a16="http://schemas.microsoft.com/office/drawing/2014/main" val="2871070961"/>
                    </a:ext>
                  </a:extLst>
                </a:gridCol>
              </a:tblGrid>
              <a:tr h="3084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Vasu wants to 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String Functions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950244"/>
                  </a:ext>
                </a:extLst>
              </a:tr>
              <a:tr h="7765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A.  check whether the password has at least 8 characters before allowing registration.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1. trim()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46870395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B.  convert a product code to ALL CAPITAL letters before saving it.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 strcmp()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7619678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C.  find whether an email address contains the symbol @.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3. substr()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4142793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D.  remove extra spaces from both sides of user input before storing it.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4. strlen()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1910252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E.  compare two passwords exactly as typed (case-sensitive).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5. strtoupper()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817888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F.  extract only the first 4 characters of a student ID.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6. htmlspecialchars()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6732074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G.  display user comments safely so that HTML tags are not executed.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7. strpos()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8824016"/>
                  </a:ext>
                </a:extLst>
              </a:tr>
              <a:tr h="6085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H.  replace a bad word with a good word in a review before showing it.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8. </a:t>
                      </a:r>
                      <a:r>
                        <a:rPr lang="en-IN" sz="1800" u="none" strike="noStrike" dirty="0" err="1">
                          <a:effectLst/>
                        </a:rPr>
                        <a:t>str_replace</a:t>
                      </a:r>
                      <a:r>
                        <a:rPr lang="en-IN" sz="1800" u="none" strike="noStrike" dirty="0">
                          <a:effectLst/>
                        </a:rPr>
                        <a:t>()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9117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6C1524F5-9ABA-F89D-7B61-1D95A1D6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>
            <a:extLst>
              <a:ext uri="{FF2B5EF4-FFF2-40B4-BE49-F238E27FC236}">
                <a16:creationId xmlns:a16="http://schemas.microsoft.com/office/drawing/2014/main" id="{321D265A-EB47-6433-AB9C-86AEDEBE388A}"/>
              </a:ext>
            </a:extLst>
          </p:cNvPr>
          <p:cNvSpPr/>
          <p:nvPr/>
        </p:nvSpPr>
        <p:spPr>
          <a:xfrm>
            <a:off x="1161320" y="852273"/>
            <a:ext cx="3519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String Functions</a:t>
            </a:r>
            <a:endParaRPr sz="2600" b="1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>
            <a:extLst>
              <a:ext uri="{FF2B5EF4-FFF2-40B4-BE49-F238E27FC236}">
                <a16:creationId xmlns:a16="http://schemas.microsoft.com/office/drawing/2014/main" id="{A2A7F380-E23A-A2FC-CA60-FE32C31300C9}"/>
              </a:ext>
            </a:extLst>
          </p:cNvPr>
          <p:cNvSpPr txBox="1"/>
          <p:nvPr/>
        </p:nvSpPr>
        <p:spPr>
          <a:xfrm>
            <a:off x="1436454" y="1700252"/>
            <a:ext cx="94233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strlen</a:t>
            </a:r>
            <a:r>
              <a:rPr lang="en-US" sz="2000" dirty="0"/>
              <a:t>(): Returns the length of a string.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str_word_count</a:t>
            </a:r>
            <a:r>
              <a:rPr lang="en-US" sz="2000" dirty="0"/>
              <a:t>(): Counts the number of words in a string.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strpos</a:t>
            </a:r>
            <a:r>
              <a:rPr lang="en-US" sz="2000" dirty="0"/>
              <a:t>(): Searches for a specific text within a string and returns its position.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strtoupper</a:t>
            </a:r>
            <a:r>
              <a:rPr lang="en-US" sz="2000" dirty="0"/>
              <a:t>(): Converts a string to upper case.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str_replace</a:t>
            </a:r>
            <a:r>
              <a:rPr lang="en-US" sz="2000" dirty="0"/>
              <a:t>(): Replaces some characters or words in a string with other characters or words.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 err="1"/>
              <a:t>strrev</a:t>
            </a:r>
            <a:r>
              <a:rPr lang="en-US" sz="2000" dirty="0"/>
              <a:t>(): Reverses a string.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/>
              <a:t>trim(): Removes whitespace from the beginning and end of a string.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explode(): Splits a string into an array based on a specified delimiter.</a:t>
            </a:r>
            <a:endParaRPr sz="2000" dirty="0"/>
          </a:p>
        </p:txBody>
      </p:sp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E9F85473-4771-49F3-E0A2-CD279FC0AC25}"/>
              </a:ext>
            </a:extLst>
          </p:cNvPr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99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/>
        </p:nvSpPr>
        <p:spPr>
          <a:xfrm>
            <a:off x="638675" y="703575"/>
            <a:ext cx="11360100" cy="6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rgbClr val="0070C0"/>
                </a:solidFill>
              </a:rPr>
              <a:t>Control Statements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Control statements control the flow of execution of a program and decide the order in which statements are executed at runtime.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Eg: Processing multiple product orders one by one.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for ($order = 1; $order &lt;= 3; $order++) {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</a:rPr>
              <a:t>echo "Processing Order " . $order . "&lt;br&gt;";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b="1">
                <a:solidFill>
                  <a:schemeClr val="dk1"/>
                </a:solidFill>
              </a:rPr>
              <a:t>Loop Statements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b="1">
                <a:solidFill>
                  <a:schemeClr val="dk1"/>
                </a:solidFill>
              </a:rPr>
              <a:t>Loop statements are used to execute a block of code repeatedly until a specific condition is satisfied.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</a:rPr>
              <a:t>Eg: Displaying Student Marks (for loop)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</a:rPr>
              <a:t>for ($rollNo = 1; $rollNo &lt;= 5; $rollNo++) {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</a:rPr>
              <a:t>echo "Displaying marks for Roll No: " . $rollNo . "&lt;br&gt;";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0" y="-276999"/>
            <a:ext cx="25705" cy="55399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12675" tIns="0" rIns="1267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b2089c20e_0_6"/>
          <p:cNvSpPr txBox="1"/>
          <p:nvPr/>
        </p:nvSpPr>
        <p:spPr>
          <a:xfrm>
            <a:off x="987070" y="684722"/>
            <a:ext cx="5819082" cy="554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</a:rPr>
              <a:t>Decision Making Statements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</a:rPr>
              <a:t>Decision making statements are used to execute different blocks of code based on specific conditions.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</a:rPr>
              <a:t>Eg: Salary Bonus Calculation (if-elseif-else)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$experience = 6;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if ($experience &gt;= 10) {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echo "Senior Employee Bonus";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} elseif ($experience &gt;= 5) {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echo "Mid-Level Employee Bonus";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} else {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echo "Junior Employee Bonus";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} 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200" name="Google Shape;200;g3bb2089c20e_0_6"/>
          <p:cNvSpPr/>
          <p:nvPr/>
        </p:nvSpPr>
        <p:spPr>
          <a:xfrm>
            <a:off x="0" y="-276999"/>
            <a:ext cx="25800" cy="5541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12675" tIns="0" rIns="1267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bb2089c20e_0_6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DA5D2-E2E4-8D77-899B-752BC3010168}"/>
              </a:ext>
            </a:extLst>
          </p:cNvPr>
          <p:cNvSpPr txBox="1"/>
          <p:nvPr/>
        </p:nvSpPr>
        <p:spPr>
          <a:xfrm>
            <a:off x="5743280" y="3208234"/>
            <a:ext cx="235434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Conditionals in PHP: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if-else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if-elseif-else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switch</a:t>
            </a:r>
            <a:endParaRPr lang="en-US" dirty="0"/>
          </a:p>
          <a:p>
            <a:pPr>
              <a:buNone/>
            </a:pPr>
            <a:r>
              <a:rPr lang="en-US" b="1" dirty="0"/>
              <a:t>Loops in PHP: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while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do-while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Foreach - </a:t>
            </a:r>
            <a:r>
              <a:rPr lang="en-US" dirty="0"/>
              <a:t>Used to loop through </a:t>
            </a:r>
            <a:r>
              <a:rPr lang="en-US" b="1" dirty="0"/>
              <a:t>arrays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924289" y="880390"/>
            <a:ext cx="150782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905435" y="1409238"/>
            <a:ext cx="8650941" cy="526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Indexed Arrays - </a:t>
            </a: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indexed arrays each item has an index number.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 = array(“Basketball", “Cricket", “Shuttle");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$games[2];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$games[3]=“pool”;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or </a:t>
            </a:r>
            <a:r>
              <a:rPr lang="en-US" sz="1600" dirty="0" err="1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var_dump</a:t>
            </a:r>
            <a:r>
              <a:rPr lang="en-US" sz="16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();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 Arrays- </a:t>
            </a:r>
            <a:r>
              <a:rPr lang="en-US" sz="1800" b="0" i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Associative arrays are arrays that use named keys that you assign to them.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 = array(“game1” =&gt; “Basketball", “game2” =&gt;“Cricket", “game3” =&gt; “Shuttle");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$games[“games2”];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$games[“game4”]=“pool”;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757517" y="874876"/>
            <a:ext cx="10676965" cy="5445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Multi-Dimensional Arrays - </a:t>
            </a: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multidimensional array is an array containing one or more arrays.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BD6EE"/>
                </a:solidFill>
                <a:latin typeface="Cascadia Code"/>
                <a:ea typeface="Cascadia Code"/>
                <a:cs typeface="Cascadia Code"/>
                <a:sym typeface="Cascadia Code"/>
              </a:rPr>
              <a:t>//Indexed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 = array(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array(“Basketball", “A” , “B”)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array(“Cricket", “C” , “B”)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array(“Shuttle” , “B” , “C”));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$games;</a:t>
            </a:r>
            <a:endParaRPr sz="1800">
              <a:solidFill>
                <a:srgbClr val="00B05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BD6EE"/>
                </a:solidFill>
                <a:latin typeface="Cascadia Code"/>
                <a:ea typeface="Cascadia Code"/>
                <a:cs typeface="Cascadia Code"/>
                <a:sym typeface="Cascadia Code"/>
              </a:rPr>
              <a:t>//Associative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$games = array(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array(“game1” =&gt; “Basketball", “A” , “B”)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array(“game2” =&gt;“Cricket", “C” , “B”)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array(“game3” =&gt; “Shuttle” , “B” , “C”));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scadia Code"/>
                <a:ea typeface="Cascadia Code"/>
                <a:cs typeface="Cascadia Code"/>
                <a:sym typeface="Cascadia Code"/>
              </a:rPr>
              <a:t>Echo $games;</a:t>
            </a:r>
            <a:endParaRPr sz="1800">
              <a:solidFill>
                <a:srgbClr val="00B050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8650" y="2774857"/>
            <a:ext cx="20955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/>
          <p:nvPr/>
        </p:nvSpPr>
        <p:spPr>
          <a:xfrm>
            <a:off x="8184776" y="2599765"/>
            <a:ext cx="2241177" cy="26266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752355" y="464473"/>
            <a:ext cx="9270186" cy="58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Global Variables - Superglobals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predefined variables in PHP are "superglobals“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accessible, regardless of scope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access them from any function, class or file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PHP super global variables are: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$GLOBALS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you can create global variables inside a function by using the </a:t>
            </a:r>
            <a:r>
              <a:rPr lang="en-US" sz="1800" b="0" i="0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$GLOBALS</a:t>
            </a:r>
            <a:r>
              <a:rPr lang="en-US" sz="1800" b="0" i="0" u="none" strike="noStrike" cap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syntax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eg:  </a:t>
            </a:r>
            <a:r>
              <a:rPr lang="en-US" sz="1100" b="1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$GLOBALS[x] = 20; and use it in &amp; out of functions</a:t>
            </a:r>
            <a:endParaRPr sz="1800"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$_SERVER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super global var - </a:t>
            </a:r>
            <a:r>
              <a:rPr lang="en-US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holds information about headers, paths, and script locations.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$_REQUEST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contains submitted </a:t>
            </a:r>
            <a:r>
              <a:rPr lang="en-US" sz="18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form data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array containing data from $_GET, $_POST, and $_COOKIE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$_POST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puts your data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$_GET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gets your data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2" descr="IT Raids on NTR’s Father-in-law, Narne Srinivasa Rao - Discussions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6445" y="954741"/>
            <a:ext cx="3024094" cy="247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8624047" y="753034"/>
            <a:ext cx="3406589" cy="28328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/>
        </p:nvSpPr>
        <p:spPr>
          <a:xfrm>
            <a:off x="1057834" y="703574"/>
            <a:ext cx="9879107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$_FILES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An associative array </a:t>
            </a:r>
            <a:r>
              <a:rPr lang="en-US" sz="1800" b="0" i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composed of items sent to the current script 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via the HTTP POST method.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used to upload files/ functions of file system.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$_ENV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An associative array of </a:t>
            </a:r>
            <a:r>
              <a:rPr lang="en-US" sz="1800" b="0" i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variables passed to the current script via the environment 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method.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Contains environment variables from the server. This can be used to access system information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$_COOKIE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An associative array of </a:t>
            </a:r>
            <a:r>
              <a:rPr lang="en-US" sz="1800" b="0" i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variables passed to the current script via HTTP Cookies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–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This is used to retrieve cookie values sent by the client browser.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$_SESSION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An associative array containing </a:t>
            </a:r>
            <a:r>
              <a:rPr lang="en-US" sz="1800" b="0" i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session variables available to the current script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Using session variables </a:t>
            </a:r>
            <a:r>
              <a:rPr lang="en-US" sz="1800" b="0" i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we can store information to be used across multiple pages</a:t>
            </a:r>
            <a:r>
              <a:rPr lang="en-US" sz="18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Unlike a cookie, the information is not stored on the users’ computer.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/>
        </p:nvSpPr>
        <p:spPr>
          <a:xfrm>
            <a:off x="773205" y="956748"/>
            <a:ext cx="9177619" cy="646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Method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GET method is used to retrieve data from the server.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sent by the GET method can be accessed using the $_GET super global variable in PHP , </a:t>
            </a:r>
            <a:r>
              <a:rPr lang="en-US" sz="18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when the user submits the form, the URL will look something like this: </a:t>
            </a:r>
            <a:r>
              <a:rPr lang="en-US" sz="1800" b="1" i="1" u="none" strike="noStrike" cap="none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registration.php?name=vasu&amp;email=vasu@outlook.com</a:t>
            </a:r>
            <a:r>
              <a:rPr lang="en-US" sz="1800" b="1" i="1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$_GET variable can then be used to access the data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1800"/>
              <a:buFont typeface="Arial"/>
              <a:buChar char="•"/>
            </a:pPr>
            <a:r>
              <a:rPr lang="en-US" sz="1800" b="0" i="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The data is appended to the URL and is visible in the browser’s address bar.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1800"/>
              <a:buFont typeface="Arial"/>
              <a:buChar char="•"/>
            </a:pPr>
            <a:r>
              <a:rPr lang="en-US" sz="1800" b="0" i="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It is not secure for sending sensitive data like passwords.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1800"/>
              <a:buFont typeface="Arial"/>
              <a:buChar char="•"/>
            </a:pPr>
            <a:r>
              <a:rPr lang="en-US" sz="1800" b="0" i="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It has a limit on the amount of data to send (up to 2048 characters).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4" descr="Brahmi brahmanandam gif brahmi brahmanandam teju discover share gifs –  Artof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7106" y="3600450"/>
            <a:ext cx="21812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/>
          <p:nvPr/>
        </p:nvSpPr>
        <p:spPr>
          <a:xfrm>
            <a:off x="8803341" y="3505200"/>
            <a:ext cx="2429435" cy="22770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654554" y="881039"/>
            <a:ext cx="9219567" cy="341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675" tIns="0" rIns="12675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PHP </a:t>
            </a:r>
            <a:r>
              <a:rPr lang="en-US" sz="2400" b="1" i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POST Method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POST method is used to send data to the server.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data sent by the POST method can be accessed using the $_POST super global variable in PHP.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POST method is more secure and does not have a limit on the amount of data to send.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MB max size for the POST method, by default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(can be changed by setting the post_max_size in the php.ini file)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0" y="-138500"/>
            <a:ext cx="12192000" cy="27699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12675" tIns="0" rIns="1267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0137" y="3535176"/>
            <a:ext cx="2363040" cy="268773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8166847" y="3429000"/>
            <a:ext cx="2653553" cy="29807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>
            <a:off x="1084732" y="1065639"/>
            <a:ext cx="9821984" cy="552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include (or require)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statement takes all the text/code/markup that exists in the specified file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copies it into the file that uses the include statement.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– </a:t>
            </a:r>
            <a:r>
              <a:rPr lang="en-US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 be used for standard pages/blocks of code/files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 is also used </a:t>
            </a:r>
            <a:r>
              <a:rPr lang="en-US" sz="18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 same purpose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Diff B/w </a:t>
            </a:r>
            <a:r>
              <a:rPr lang="en-US" sz="2300" b="1" i="1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Include and Require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if</a:t>
            </a:r>
            <a:r>
              <a:rPr lang="en-US" sz="1800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( file==404):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Script Continues</a:t>
            </a:r>
            <a:r>
              <a:rPr lang="en-US" sz="1800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 when( include is used 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Resulting in E_WARNING!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Else{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Script Stops (when require is used);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Resulting in E_COMPILE_ERROR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1084732" y="603974"/>
            <a:ext cx="24115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PHP Advanced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/>
        </p:nvSpPr>
        <p:spPr>
          <a:xfrm>
            <a:off x="986116" y="1321674"/>
            <a:ext cx="1018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2603720" y="5788648"/>
            <a:ext cx="67306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Let’s MaTcH the ABove</a:t>
            </a:r>
            <a:endParaRPr sz="5400" b="1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986116" y="844766"/>
            <a:ext cx="60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B05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PHP Filesystem Functions</a:t>
            </a:r>
            <a:endParaRPr sz="2000">
              <a:solidFill>
                <a:srgbClr val="00B050"/>
              </a:solidFill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209975" y="1408750"/>
            <a:ext cx="86949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readfile() - </a:t>
            </a:r>
            <a:r>
              <a:rPr lang="en-US" sz="2000">
                <a:solidFill>
                  <a:schemeClr val="dk1"/>
                </a:solidFill>
              </a:rPr>
              <a:t>Reads a file and writes its contents directly to the output buffer.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fopen() - </a:t>
            </a:r>
            <a:r>
              <a:rPr lang="en-US" sz="2000">
                <a:solidFill>
                  <a:schemeClr val="dk1"/>
                </a:solidFill>
              </a:rPr>
              <a:t>Opens a file and returns a file pointer.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fread() - </a:t>
            </a:r>
            <a:r>
              <a:rPr lang="en-US" sz="2000">
                <a:solidFill>
                  <a:schemeClr val="dk1"/>
                </a:solidFill>
              </a:rPr>
              <a:t>Reads data from an open file.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fclose()- </a:t>
            </a:r>
            <a:r>
              <a:rPr lang="en-US" sz="2000">
                <a:solidFill>
                  <a:schemeClr val="dk1"/>
                </a:solidFill>
              </a:rPr>
              <a:t>Closes an open file.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fgets() -</a:t>
            </a:r>
            <a:r>
              <a:rPr lang="en-US" sz="2000">
                <a:solidFill>
                  <a:schemeClr val="dk1"/>
                </a:solidFill>
              </a:rPr>
              <a:t>Reads a single line from a file.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feof() - </a:t>
            </a:r>
            <a:r>
              <a:rPr lang="en-US" sz="2000">
                <a:solidFill>
                  <a:schemeClr val="dk1"/>
                </a:solidFill>
              </a:rPr>
              <a:t>Checks whether the end of a file (EOF) has been reached.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fgetc() - </a:t>
            </a:r>
            <a:r>
              <a:rPr lang="en-US" sz="2000">
                <a:solidFill>
                  <a:schemeClr val="dk1"/>
                </a:solidFill>
              </a:rPr>
              <a:t>Reads a single character from a file.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/>
        </p:nvSpPr>
        <p:spPr>
          <a:xfrm>
            <a:off x="1488141" y="917864"/>
            <a:ext cx="79785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PHP File Upload</a:t>
            </a:r>
            <a:endParaRPr b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upload files to the server</a:t>
            </a: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 </a:t>
            </a:r>
            <a:r>
              <a:rPr lang="en-US" sz="18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file_uploads = On</a:t>
            </a:r>
            <a:r>
              <a:rPr lang="en-US" sz="1800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php.ini file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uses </a:t>
            </a:r>
            <a:r>
              <a:rPr lang="en-US" sz="1800" b="0" i="1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method="post“</a:t>
            </a:r>
            <a:endParaRPr sz="1800" i="1">
              <a:solidFill>
                <a:srgbClr val="0070C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specifies which content-type to use -</a:t>
            </a:r>
            <a:r>
              <a:rPr lang="en-US" sz="1800" b="0" i="1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enctype="multipart/form-data“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"upload.php" file contains the code for uploading a file</a:t>
            </a:r>
            <a:r>
              <a:rPr lang="en-US" sz="1800" i="1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 – consists of </a:t>
            </a: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$target_dir = "uploads/“</a:t>
            </a:r>
            <a:r>
              <a:rPr lang="en-US" sz="1800" i="1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 , </a:t>
            </a: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$target_file </a:t>
            </a:r>
            <a:r>
              <a:rPr lang="en-US" sz="1800" i="1">
                <a:solidFill>
                  <a:srgbClr val="0070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$imageFileType</a:t>
            </a:r>
            <a:endParaRPr sz="1800" b="0" i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Now, we want to check the size of the file. If the file is larger than 500KB, an error message is displayed, and $uploadOk is set to 0</a:t>
            </a: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i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Limit file type -restriction</a:t>
            </a:r>
            <a:endParaRPr sz="1800" i="1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/>
        </p:nvSpPr>
        <p:spPr>
          <a:xfrm>
            <a:off x="1165411" y="857508"/>
            <a:ext cx="8506489" cy="538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PHP Cookie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 PHP cookie is a small piece of data that a server sends to a user's web browser. 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The </a:t>
            </a:r>
            <a:r>
              <a:rPr lang="en-US" sz="1800" b="1" i="1" dirty="0">
                <a:solidFill>
                  <a:srgbClr val="00B050"/>
                </a:solidFill>
                <a:latin typeface="+mn-lt"/>
                <a:ea typeface="Calibri"/>
                <a:cs typeface="Calibri"/>
                <a:sym typeface="Calibri"/>
              </a:rPr>
              <a:t>browser stores the cookie and sends it back to the server 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with subsequent requests to the same server. 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Cookies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are used to remember information about the user between requests or across sessions.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Cookies enable a website to:</a:t>
            </a:r>
            <a:endParaRPr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Remember user preferences (e.g., language settings, theme).</a:t>
            </a:r>
            <a:endParaRPr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Track user sessions (e.g., logged-in status).</a:t>
            </a:r>
            <a:endParaRPr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Store shopping cart items on e-commerce websites.</a:t>
            </a:r>
            <a:endParaRPr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Facilitate analytics and tracking for website performance.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Syntax for Setting a Cookie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setcookie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(name, </a:t>
            </a:r>
            <a:r>
              <a:rPr lang="en-US" sz="1800" dirty="0">
                <a:solidFill>
                  <a:srgbClr val="757070"/>
                </a:solidFill>
                <a:latin typeface="+mn-lt"/>
                <a:ea typeface="Calibri"/>
                <a:cs typeface="Calibri"/>
                <a:sym typeface="Calibri"/>
              </a:rPr>
              <a:t>value, expire, path, domain, secure, </a:t>
            </a:r>
            <a:r>
              <a:rPr lang="en-US" sz="1800" dirty="0" err="1">
                <a:solidFill>
                  <a:srgbClr val="757070"/>
                </a:solidFill>
                <a:latin typeface="+mn-lt"/>
                <a:ea typeface="Calibri"/>
                <a:cs typeface="Calibri"/>
                <a:sym typeface="Calibri"/>
              </a:rPr>
              <a:t>httponly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);</a:t>
            </a:r>
            <a:endParaRPr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DED7FD-63B2-FDCD-6219-AC203D2A26DB}"/>
              </a:ext>
            </a:extLst>
          </p:cNvPr>
          <p:cNvSpPr txBox="1"/>
          <p:nvPr/>
        </p:nvSpPr>
        <p:spPr>
          <a:xfrm>
            <a:off x="1284402" y="910150"/>
            <a:ext cx="609442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File Handling –</a:t>
            </a:r>
          </a:p>
          <a:p>
            <a:pPr>
              <a:buNone/>
            </a:pPr>
            <a:r>
              <a:rPr lang="en-US" sz="1600" dirty="0"/>
              <a:t>Opening / closing files: </a:t>
            </a:r>
            <a:r>
              <a:rPr lang="en-US" sz="1600" dirty="0" err="1">
                <a:latin typeface="Courier New" panose="02070309020205020404" pitchFamily="49" charset="0"/>
              </a:rPr>
              <a:t>fopen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fclose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Reading files: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fread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fgets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</a:rPr>
              <a:t>file()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file_get_contents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Writing files: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fwrite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file_put_contents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File modes: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r, w, a, x, r+, w+, a+, x+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File pointer functions: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rewind()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ftell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fseek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File locking: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flock()</a:t>
            </a:r>
          </a:p>
          <a:p>
            <a:r>
              <a:rPr lang="en-US" sz="1600" b="1" dirty="0"/>
              <a:t>File Information &amp; Metadata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file_exists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filetype()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fileperms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fileowner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filegroup()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fileatime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filemtime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filectime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fileinode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/>
            <a:endParaRPr lang="en-US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476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5A82B-C5A8-16CE-3C73-D09A76271E34}"/>
              </a:ext>
            </a:extLst>
          </p:cNvPr>
          <p:cNvSpPr txBox="1"/>
          <p:nvPr/>
        </p:nvSpPr>
        <p:spPr>
          <a:xfrm>
            <a:off x="1388097" y="807737"/>
            <a:ext cx="60944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Directory Handling (Parsing Directories)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opendir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readdir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closedir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scandir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rewinddir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getcwd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chdir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chroot()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ourier New" panose="02070309020205020404" pitchFamily="49" charset="0"/>
            </a:endParaRPr>
          </a:p>
          <a:p>
            <a:r>
              <a:rPr lang="en-US" sz="1600" b="1" dirty="0"/>
              <a:t>Permissions &amp; Security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fileperms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File Upload &amp; Download </a:t>
            </a:r>
          </a:p>
          <a:p>
            <a:endParaRPr lang="en-US" sz="1600" b="1" dirty="0"/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$_FILES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move_uploaded_file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dirty="0"/>
          </a:p>
          <a:p>
            <a:r>
              <a:rPr lang="en-US" sz="1600" b="1" dirty="0"/>
              <a:t>File &amp; Directory Management</a:t>
            </a:r>
          </a:p>
          <a:p>
            <a:endParaRPr lang="en-US" sz="1600" dirty="0"/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copy(), rename(), unlink() (delete file)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is_file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is_dir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is_readable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is_writable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3314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3476926" y="475146"/>
            <a:ext cx="461062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oR FaLSE ?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487493" y="1737841"/>
            <a:ext cx="717574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	- opens a file read - only</a:t>
            </a:r>
            <a:endParaRPr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	- write - only : erases / creates a file - </a:t>
            </a:r>
            <a:endParaRPr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	- write - only : creates/existing data preserved (appends)</a:t>
            </a:r>
            <a:endParaRPr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	- creates a new file for write only AND what if file exists ? </a:t>
            </a:r>
            <a:endParaRPr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r+	- opens a file read/write</a:t>
            </a:r>
            <a:endParaRPr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W+	- </a:t>
            </a:r>
            <a:r>
              <a:rPr lang="en-US" sz="200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pens a file for read and write.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a+	- </a:t>
            </a:r>
            <a:r>
              <a:rPr lang="en-US" sz="2000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Opens a file for write/read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x+	- creates a new file for R/W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0" descr="file Icon for Free Download | FreeImag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135187">
            <a:off x="8982381" y="3827667"/>
            <a:ext cx="2950714" cy="295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0" descr="Folder icon png mac - bposupre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40655">
            <a:off x="8763974" y="4472908"/>
            <a:ext cx="1699924" cy="169992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CD692-905F-FE22-25CB-3C639DC270F1}"/>
              </a:ext>
            </a:extLst>
          </p:cNvPr>
          <p:cNvSpPr txBox="1"/>
          <p:nvPr/>
        </p:nvSpPr>
        <p:spPr>
          <a:xfrm>
            <a:off x="1218415" y="950303"/>
            <a:ext cx="5238946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File Permission / Operation Modes 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Google Shape;290;p32"/>
          <p:cNvGraphicFramePr/>
          <p:nvPr>
            <p:extLst>
              <p:ext uri="{D42A27DB-BD31-4B8C-83A1-F6EECF244321}">
                <p14:modId xmlns:p14="http://schemas.microsoft.com/office/powerpoint/2010/main" val="4122280497"/>
              </p:ext>
            </p:extLst>
          </p:nvPr>
        </p:nvGraphicFramePr>
        <p:xfrm>
          <a:off x="2186472" y="1187777"/>
          <a:ext cx="8220719" cy="5525925"/>
        </p:xfrm>
        <a:graphic>
          <a:graphicData uri="http://schemas.openxmlformats.org/drawingml/2006/table">
            <a:tbl>
              <a:tblPr>
                <a:noFill/>
                <a:tableStyleId>{60164BD5-A23C-46B6-9D64-E2CE24AB4394}</a:tableStyleId>
              </a:tblPr>
              <a:tblGrid>
                <a:gridCol w="2611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5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 dirty="0">
                          <a:solidFill>
                            <a:schemeClr val="hlink"/>
                          </a:solidFill>
                          <a:hlinkClick r:id="rId3"/>
                        </a:rPr>
                        <a:t>file()</a:t>
                      </a:r>
                      <a:endParaRPr lang="en-US" sz="1300" u="none" strike="noStrike" cap="none" dirty="0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Reads a file into an array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0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 dirty="0" err="1">
                          <a:solidFill>
                            <a:schemeClr val="hlink"/>
                          </a:solidFill>
                          <a:hlinkClick r:id="rId4"/>
                        </a:rPr>
                        <a:t>file_exists</a:t>
                      </a:r>
                      <a:r>
                        <a:rPr lang="en-US" sz="1300" u="sng" strike="noStrike" cap="none" dirty="0">
                          <a:solidFill>
                            <a:schemeClr val="hlink"/>
                          </a:solidFill>
                          <a:hlinkClick r:id="rId4"/>
                        </a:rPr>
                        <a:t>()</a:t>
                      </a:r>
                      <a:endParaRPr lang="en-US" sz="1300" u="none" strike="noStrike" cap="none" dirty="0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/>
                        <a:t>Writes data to a file 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u="none" strike="noStrike" cap="none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 dirty="0" err="1">
                          <a:solidFill>
                            <a:schemeClr val="hlink"/>
                          </a:solidFill>
                          <a:hlinkClick r:id="rId5"/>
                        </a:rPr>
                        <a:t>file_get_contents</a:t>
                      </a:r>
                      <a:r>
                        <a:rPr lang="en-US" sz="1300" u="sng" strike="noStrike" cap="none" dirty="0">
                          <a:solidFill>
                            <a:schemeClr val="hlink"/>
                          </a:solidFill>
                          <a:hlinkClick r:id="rId5"/>
                        </a:rPr>
                        <a:t>()</a:t>
                      </a:r>
                      <a:endParaRPr lang="en-US" sz="1300" u="none" strike="noStrike" cap="none" dirty="0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Reads a file into a string</a:t>
                      </a:r>
                      <a:endParaRPr lang="en-US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 dirty="0" err="1">
                          <a:solidFill>
                            <a:schemeClr val="hlink"/>
                          </a:solidFill>
                          <a:hlinkClick r:id="rId6"/>
                        </a:rPr>
                        <a:t>file_put_contents</a:t>
                      </a:r>
                      <a:r>
                        <a:rPr lang="en-US" sz="1300" u="sng" strike="noStrike" cap="none" dirty="0">
                          <a:solidFill>
                            <a:schemeClr val="hlink"/>
                          </a:solidFill>
                          <a:hlinkClick r:id="rId6"/>
                        </a:rPr>
                        <a:t>()</a:t>
                      </a:r>
                      <a:endParaRPr lang="en-US" sz="1300" u="none" strike="noStrike" cap="none" dirty="0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Checks whether or not a file or directory exists 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7"/>
                        </a:rPr>
                        <a:t>fileatime()</a:t>
                      </a:r>
                      <a:endParaRPr lang="en-US" sz="1300" u="none" strike="noStrike" cap="none" dirty="0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Returns the last change time of a file 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8"/>
                        </a:rPr>
                        <a:t>filectime()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/>
                        <a:t>Returns the last access time of a file 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u="none" strike="noStrike" cap="none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9"/>
                        </a:rPr>
                        <a:t>filegroup()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Returns the group ID of a file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0"/>
                        </a:rPr>
                        <a:t>fileinode()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Locks or releases a file 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0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1"/>
                        </a:rPr>
                        <a:t>filemtime()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Returns the file size </a:t>
                      </a:r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2"/>
                        </a:rPr>
                        <a:t>fileowner()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Returns the user ID (owner) of a file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50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3"/>
                        </a:rPr>
                        <a:t>fileperms()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/>
                        <a:t>Returns the last modification time of a file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u="none" strike="noStrike" cap="none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50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4"/>
                        </a:rPr>
                        <a:t>filesize()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/>
                        <a:t>Returns the file's permissions 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u="none" strike="noStrike" cap="none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5"/>
                        </a:rPr>
                        <a:t>filetype()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/>
                        <a:t>Returns the file type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50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strike="noStrike" cap="none">
                          <a:solidFill>
                            <a:schemeClr val="hlink"/>
                          </a:solidFill>
                          <a:hlinkClick r:id="rId16"/>
                        </a:rPr>
                        <a:t>flock()</a:t>
                      </a:r>
                      <a:endParaRPr lang="en-US" sz="1300" u="none" strike="noStrike" cap="none"/>
                    </a:p>
                  </a:txBody>
                  <a:tcPr marL="870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/>
                        <a:t>Returns the </a:t>
                      </a:r>
                      <a:r>
                        <a:rPr lang="en-US" sz="1300" u="none" strike="noStrike" cap="none" dirty="0" err="1"/>
                        <a:t>inode</a:t>
                      </a:r>
                      <a:r>
                        <a:rPr lang="en-US" sz="1300" u="none" strike="noStrike" cap="none" dirty="0"/>
                        <a:t> number of a file </a:t>
                      </a:r>
                      <a:endParaRPr lang="en-US" dirty="0"/>
                    </a:p>
                  </a:txBody>
                  <a:tcPr marL="43525" marR="43525" marT="43525" marB="435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91" name="Google Shape;291;p32"/>
          <p:cNvSpPr txBox="1"/>
          <p:nvPr/>
        </p:nvSpPr>
        <p:spPr>
          <a:xfrm>
            <a:off x="1052027" y="482473"/>
            <a:ext cx="60975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PHP Filesystem Functions</a:t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2907363" y="413893"/>
            <a:ext cx="860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lang="en-US" sz="3600" b="1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r>
              <a:rPr lang="en-US" sz="3600" b="1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by True/ </a:t>
            </a:r>
            <a:r>
              <a:rPr lang="en-US" sz="3600" b="1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3600" b="1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B43C77-C370-C81C-1C33-79C7B7CDC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115492"/>
              </p:ext>
            </p:extLst>
          </p:nvPr>
        </p:nvGraphicFramePr>
        <p:xfrm>
          <a:off x="1734532" y="669302"/>
          <a:ext cx="8653806" cy="5514675"/>
        </p:xfrm>
        <a:graphic>
          <a:graphicData uri="http://schemas.openxmlformats.org/drawingml/2006/table">
            <a:tbl>
              <a:tblPr>
                <a:tableStyleId>{60164BD5-A23C-46B6-9D64-E2CE24AB4394}</a:tableStyleId>
              </a:tblPr>
              <a:tblGrid>
                <a:gridCol w="2810399">
                  <a:extLst>
                    <a:ext uri="{9D8B030D-6E8A-4147-A177-3AD203B41FA5}">
                      <a16:colId xmlns:a16="http://schemas.microsoft.com/office/drawing/2014/main" val="4077890267"/>
                    </a:ext>
                  </a:extLst>
                </a:gridCol>
                <a:gridCol w="5843407">
                  <a:extLst>
                    <a:ext uri="{9D8B030D-6E8A-4147-A177-3AD203B41FA5}">
                      <a16:colId xmlns:a16="http://schemas.microsoft.com/office/drawing/2014/main" val="3140153522"/>
                    </a:ext>
                  </a:extLst>
                </a:gridCol>
              </a:tblGrid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/>
                        </a:rPr>
                        <a:t>File Function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It </a:t>
                      </a:r>
                      <a:r>
                        <a:rPr lang="en-US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perfroms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512006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file()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Reads a file into an array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83221920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file_exists()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Checks whether a file or directory exists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7513530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file_get_contents()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Reads a file into a string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34736242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file_put_contents()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Writes data to a file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43843467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fileatime()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last access time of a 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9875620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filectime()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last change time of a 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6409701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filegroup()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group ID of a 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79504508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fileinode()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inode number of a 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87934957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filemtime()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last modification time of a 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3430886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fileowner()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Returns the user ID (owner) of a 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4356733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fileperms()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Returns the file's permissions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5548823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filesize()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Returns the file size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9952107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filetype()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Returns the file type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85496316"/>
                  </a:ext>
                </a:extLst>
              </a:tr>
              <a:tr h="367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flock()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Locks or releases a file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5343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5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/>
        </p:nvSpPr>
        <p:spPr>
          <a:xfrm>
            <a:off x="1052027" y="482473"/>
            <a:ext cx="60975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PHP </a:t>
            </a:r>
            <a:r>
              <a:rPr lang="en-US" sz="2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Parsing Directories</a:t>
            </a:r>
            <a:endParaRPr sz="2400" b="0" i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99" name="Google Shape;299;p33"/>
          <p:cNvGraphicFramePr/>
          <p:nvPr/>
        </p:nvGraphicFramePr>
        <p:xfrm>
          <a:off x="1922981" y="1161678"/>
          <a:ext cx="8769900" cy="5333800"/>
        </p:xfrm>
        <a:graphic>
          <a:graphicData uri="http://schemas.openxmlformats.org/drawingml/2006/table">
            <a:tbl>
              <a:tblPr>
                <a:noFill/>
                <a:tableStyleId>{60164BD5-A23C-46B6-9D64-E2CE24AB4394}</a:tableStyleId>
              </a:tblPr>
              <a:tblGrid>
                <a:gridCol w="175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Function</a:t>
                      </a:r>
                      <a:endParaRPr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Description</a:t>
                      </a:r>
                      <a:endParaRPr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3"/>
                        </a:rPr>
                        <a:t>chdir()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Resets a directory handle</a:t>
                      </a:r>
                      <a:endParaRPr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4"/>
                        </a:rPr>
                        <a:t>chroot()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Closes a directory handle </a:t>
                      </a:r>
                      <a:endParaRPr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5"/>
                        </a:rPr>
                        <a:t>closedir()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Changes the root directory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6"/>
                        </a:rPr>
                        <a:t>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Returns an array of files and directories of a specified directory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7"/>
                        </a:rPr>
                        <a:t>getcwd()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Opens a directory handle</a:t>
                      </a:r>
                      <a:endParaRPr sz="18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8"/>
                        </a:rPr>
                        <a:t>opendir()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Returns the current working directory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9"/>
                        </a:rPr>
                        <a:t>readdir()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Returns an entry from a directory handle</a:t>
                      </a:r>
                      <a:endParaRPr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10"/>
                        </a:rPr>
                        <a:t>rewinddir()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Changes the current directory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 strike="noStrike" cap="none">
                          <a:solidFill>
                            <a:schemeClr val="hlink"/>
                          </a:solidFill>
                          <a:hlinkClick r:id="rId11"/>
                        </a:rPr>
                        <a:t>scandir()</a:t>
                      </a:r>
                      <a:endParaRPr sz="1800" u="none" strike="noStrike" cap="none"/>
                    </a:p>
                  </a:txBody>
                  <a:tcPr marL="121925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 dirty="0"/>
                        <a:t>Returns an instance of the Directory class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60950" marR="60950" marT="60950" marB="609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0" name="Google Shape;300;p33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92;p32">
            <a:extLst>
              <a:ext uri="{FF2B5EF4-FFF2-40B4-BE49-F238E27FC236}">
                <a16:creationId xmlns:a16="http://schemas.microsoft.com/office/drawing/2014/main" id="{9AAD7336-E92D-ECB1-3561-FF987D58EE38}"/>
              </a:ext>
            </a:extLst>
          </p:cNvPr>
          <p:cNvSpPr/>
          <p:nvPr/>
        </p:nvSpPr>
        <p:spPr>
          <a:xfrm>
            <a:off x="2907363" y="413893"/>
            <a:ext cx="860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lang="en-US" sz="3600" b="1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r>
              <a:rPr lang="en-US" sz="3600" b="1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by True/ </a:t>
            </a:r>
            <a:r>
              <a:rPr lang="en-US" sz="3600" b="1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3600" b="1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916652-07EA-F0F3-E98D-9E08BA9FF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95406"/>
              </p:ext>
            </p:extLst>
          </p:nvPr>
        </p:nvGraphicFramePr>
        <p:xfrm>
          <a:off x="1970203" y="1376313"/>
          <a:ext cx="8446416" cy="3806243"/>
        </p:xfrm>
        <a:graphic>
          <a:graphicData uri="http://schemas.openxmlformats.org/drawingml/2006/table">
            <a:tbl>
              <a:tblPr>
                <a:tableStyleId>{60164BD5-A23C-46B6-9D64-E2CE24AB4394}</a:tableStyleId>
              </a:tblPr>
              <a:tblGrid>
                <a:gridCol w="2743048">
                  <a:extLst>
                    <a:ext uri="{9D8B030D-6E8A-4147-A177-3AD203B41FA5}">
                      <a16:colId xmlns:a16="http://schemas.microsoft.com/office/drawing/2014/main" val="3924237535"/>
                    </a:ext>
                  </a:extLst>
                </a:gridCol>
                <a:gridCol w="5703368">
                  <a:extLst>
                    <a:ext uri="{9D8B030D-6E8A-4147-A177-3AD203B41FA5}">
                      <a16:colId xmlns:a16="http://schemas.microsoft.com/office/drawing/2014/main" val="4132480753"/>
                    </a:ext>
                  </a:extLst>
                </a:gridCol>
              </a:tblGrid>
              <a:tr h="346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IN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It Performs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245652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chdir()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Changes the current working directory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9543847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chroot()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Changes the root directory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1446576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closedir()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Closes a directory handle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0572644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an instance of the Directory class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7590548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getcwd()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current working directory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91163566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opendir</a:t>
                      </a:r>
                      <a:r>
                        <a:rPr lang="en-IN" sz="1600" u="none" strike="noStrike" dirty="0">
                          <a:effectLst/>
                        </a:rPr>
                        <a:t>()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Opens a directory handle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9881591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readdir()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an entry from a directory handle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9040007"/>
                  </a:ext>
                </a:extLst>
              </a:tr>
              <a:tr h="346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rewinddir()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Resets a directory handle to the beginning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75527297"/>
                  </a:ext>
                </a:extLst>
              </a:tr>
              <a:tr h="683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scandir()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Returns an array of files and directories in a directory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2661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654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/>
        </p:nvSpPr>
        <p:spPr>
          <a:xfrm>
            <a:off x="865415" y="575779"/>
            <a:ext cx="6097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PHP Form Validation</a:t>
            </a:r>
            <a:endParaRPr/>
          </a:p>
        </p:txBody>
      </p:sp>
      <p:sp>
        <p:nvSpPr>
          <p:cNvPr id="306" name="Google Shape;306;p34"/>
          <p:cNvSpPr txBox="1"/>
          <p:nvPr/>
        </p:nvSpPr>
        <p:spPr>
          <a:xfrm>
            <a:off x="940060" y="945111"/>
            <a:ext cx="11068438" cy="628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b="1" dirty="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$_SERVER["PHP_SELF"] 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▪"/>
            </a:pPr>
            <a:r>
              <a:rPr lang="en-US" sz="18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is a super global variable that returns the filename of the currently executing script.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$_SERVER["PHP_SELF"] </a:t>
            </a:r>
            <a:r>
              <a:rPr lang="en-US" sz="18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sends the submitted form data to the page itself – dangerous.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▪"/>
            </a:pPr>
            <a:r>
              <a:rPr lang="en-US" sz="18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Used by hackers- mostly in cross-site scripting attack – which can steal cookies, data, logs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▪"/>
            </a:pPr>
            <a:r>
              <a:rPr lang="en-US" sz="18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$_SERVER["PHP_SELF"] exploits can be avoided by using the </a:t>
            </a:r>
            <a:r>
              <a:rPr lang="en-US" sz="1800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htmlspecialchars</a:t>
            </a:r>
            <a:r>
              <a:rPr lang="en-US" sz="18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() function.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&lt;form method="post" action="&lt;?</a:t>
            </a:r>
            <a:r>
              <a:rPr lang="en-US" sz="1800" dirty="0" err="1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php</a:t>
            </a:r>
            <a:r>
              <a:rPr lang="en-US" sz="1800" dirty="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 echo </a:t>
            </a:r>
            <a:r>
              <a:rPr lang="en-US" sz="1800" dirty="0" err="1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htmlspecialchars</a:t>
            </a:r>
            <a:r>
              <a:rPr lang="en-US" sz="1800" dirty="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($_SERVER["PHP_SELF"]);?&gt;"&gt;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scadia Code"/>
              <a:ea typeface="Cascadia Code"/>
              <a:cs typeface="Cascadia Code"/>
              <a:sym typeface="Cascadia Cod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htmlspecialchars</a:t>
            </a:r>
            <a:r>
              <a:rPr lang="en-US" sz="1800" b="1" dirty="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converts special characters into HTML entities. 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prevents attackers from exploiting the code by injecting HTML or 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Noto Sans Symbols"/>
              <a:buChar char="▪"/>
            </a:pPr>
            <a:r>
              <a:rPr lang="en-US" sz="1800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r>
              <a:rPr lang="en-US" sz="1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code (Cross-site Scripting attacks)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forms.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$_SERVER["REQUEST_METHOD"]. If the REQUEST_METHOD is POST, then the form has been submitted - and it should be validated. If it has not been submitted, skip the validation and display a blank form.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4318BE-A8A6-D88E-22EF-F3FB9AEFB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8130"/>
              </p:ext>
            </p:extLst>
          </p:nvPr>
        </p:nvGraphicFramePr>
        <p:xfrm>
          <a:off x="622169" y="1254125"/>
          <a:ext cx="10671142" cy="5044684"/>
        </p:xfrm>
        <a:graphic>
          <a:graphicData uri="http://schemas.openxmlformats.org/drawingml/2006/table">
            <a:tbl>
              <a:tblPr>
                <a:tableStyleId>{60164BD5-A23C-46B6-9D64-E2CE24AB4394}</a:tableStyleId>
              </a:tblPr>
              <a:tblGrid>
                <a:gridCol w="3506771">
                  <a:extLst>
                    <a:ext uri="{9D8B030D-6E8A-4147-A177-3AD203B41FA5}">
                      <a16:colId xmlns:a16="http://schemas.microsoft.com/office/drawing/2014/main" val="426808411"/>
                    </a:ext>
                  </a:extLst>
                </a:gridCol>
                <a:gridCol w="7164371">
                  <a:extLst>
                    <a:ext uri="{9D8B030D-6E8A-4147-A177-3AD203B41FA5}">
                      <a16:colId xmlns:a16="http://schemas.microsoft.com/office/drawing/2014/main" val="1454543568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solidFill>
                            <a:schemeClr val="bg1"/>
                          </a:solidFill>
                          <a:effectLst/>
                        </a:rPr>
                        <a:t>Function / Variable</a:t>
                      </a:r>
                      <a:endParaRPr lang="en-IN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It </a:t>
                      </a:r>
                      <a:r>
                        <a:rPr lang="en-IN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Perfroms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1404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$_POST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Collects form data sent using POST method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374214851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$_GET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Collects form data sent using GET method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10515213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$_REQUEST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Collects data from GET, POST, and COOKIE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09718799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$_SERVER["REQUEST_METHOD"]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request method (GET or POST) used to access the page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429494024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$_SERVER["PHP_SELF"]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filename of the currently executing script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148642017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isset()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Checks whether a variable exists and is not NULL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14863234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empty()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Checks whether a variable is empty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73293165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trim()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Removes whitespace from beginning and end of a string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410895367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stripslashes()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Removes backslashes from a string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84906636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htmlspecialchars()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Converts special characters to HTML entities (prevents XSS)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58824769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filter_var()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Validates or sanitizes data (e.g., email, URL)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35289387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is_numeric()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Checks whether a value is a number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47045913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strlen()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Returns the length of a string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194273468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preg_match()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Checks whether a string matches a pattern (regular expression)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3316374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$_FILES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Superglobal array that stores uploaded file information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51636622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move_uploaded_file()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252" marR="7252" marT="725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Moves an uploaded file to a permanent location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/>
                </a:tc>
                <a:extLst>
                  <a:ext uri="{0D108BD9-81ED-4DB2-BD59-A6C34878D82A}">
                    <a16:rowId xmlns:a16="http://schemas.microsoft.com/office/drawing/2014/main" val="2477761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172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/>
        </p:nvSpPr>
        <p:spPr>
          <a:xfrm>
            <a:off x="1238639" y="544896"/>
            <a:ext cx="252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JSON PHP Parsing</a:t>
            </a:r>
            <a:endParaRPr sz="24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1238639" y="1152531"/>
            <a:ext cx="10200600" cy="54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JSON (JavaScript Object Notation) is a lightweight, text-based data format used to store and exchange data between systems.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It is language-independent and is natively supported by PHP, JavaScript, Python, Java, etc.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800" b="1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800" b="1" dirty="0">
                <a:solidFill>
                  <a:srgbClr val="111111"/>
                </a:solidFill>
              </a:rPr>
              <a:t>Why ?</a:t>
            </a:r>
            <a:endParaRPr sz="1800" b="1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JSON parsing is required because: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11111"/>
                </a:solidFill>
              </a:rPr>
              <a:t>PHP and frontend (JavaScript) use different data formats</a:t>
            </a:r>
            <a:endParaRPr sz="180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APIs return data mostly in JSON format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JSON is lightweight, faster, and easy to transmit over the network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Databases or files often store structured data in JSON</a:t>
            </a:r>
            <a:endParaRPr sz="1800" dirty="0">
              <a:solidFill>
                <a:srgbClr val="11111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11111"/>
                </a:solidFill>
              </a:rPr>
              <a:t>PHP cannot directly use JSON text, so it must be decoded (parsed) into PHP arrays or objects.</a:t>
            </a:r>
            <a:endParaRPr sz="1800" dirty="0">
              <a:solidFill>
                <a:srgbClr val="11111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111111"/>
              </a:solidFill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b2089c20e_0_16"/>
          <p:cNvSpPr txBox="1"/>
          <p:nvPr/>
        </p:nvSpPr>
        <p:spPr>
          <a:xfrm>
            <a:off x="704639" y="544871"/>
            <a:ext cx="252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JSON PHP Parsing</a:t>
            </a:r>
            <a:endParaRPr sz="24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bb2089c20e_0_16"/>
          <p:cNvSpPr txBox="1"/>
          <p:nvPr/>
        </p:nvSpPr>
        <p:spPr>
          <a:xfrm>
            <a:off x="666956" y="1086537"/>
            <a:ext cx="11360100" cy="6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</a:rPr>
              <a:t>JSON parsing is required in scenarios such as: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Consuming REST APIs (weather, payment, maps, login APIs)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Exchanging data between frontend (JS) and backend (PHP)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Reading/writing JSON configuration files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Handling AJAX requests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dirty="0">
                <a:solidFill>
                  <a:schemeClr val="dk1"/>
                </a:solidFill>
              </a:rPr>
              <a:t>Mobile app ↔ server communication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b="1" dirty="0">
                <a:solidFill>
                  <a:schemeClr val="dk1"/>
                </a:solidFill>
              </a:rPr>
              <a:t>Encoding Data to JSON (PHP → JSON)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dirty="0">
                <a:solidFill>
                  <a:schemeClr val="dk1"/>
                </a:solidFill>
              </a:rPr>
              <a:t>To send data from PHP to frontend or API response - PHP arrays/objects must be converted into JSON format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dirty="0">
                <a:solidFill>
                  <a:schemeClr val="dk1"/>
                </a:solidFill>
              </a:rPr>
              <a:t>Function Used :</a:t>
            </a:r>
            <a:r>
              <a:rPr lang="en-US" sz="1700" i="1" dirty="0">
                <a:solidFill>
                  <a:schemeClr val="dk1"/>
                </a:solidFill>
              </a:rPr>
              <a:t> </a:t>
            </a:r>
            <a:r>
              <a:rPr lang="en-US" sz="1700" i="1" dirty="0" err="1">
                <a:solidFill>
                  <a:schemeClr val="dk1"/>
                </a:solidFill>
              </a:rPr>
              <a:t>json_encode</a:t>
            </a:r>
            <a:r>
              <a:rPr lang="en-US" sz="1700" i="1" dirty="0">
                <a:solidFill>
                  <a:schemeClr val="dk1"/>
                </a:solidFill>
              </a:rPr>
              <a:t>()</a:t>
            </a:r>
            <a:endParaRPr sz="1700" i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b="1" dirty="0">
                <a:solidFill>
                  <a:schemeClr val="dk1"/>
                </a:solidFill>
              </a:rPr>
              <a:t>Decoding JSON Data (JSON → PHP)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dirty="0">
                <a:solidFill>
                  <a:schemeClr val="dk1"/>
                </a:solidFill>
              </a:rPr>
              <a:t>JSON received from APIs or frontend is plain text - PHP must convert it into a usable format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dirty="0">
                <a:solidFill>
                  <a:schemeClr val="dk1"/>
                </a:solidFill>
              </a:rPr>
              <a:t>Function Used: </a:t>
            </a:r>
            <a:r>
              <a:rPr lang="en-US" sz="1700" i="1" dirty="0" err="1">
                <a:solidFill>
                  <a:schemeClr val="dk1"/>
                </a:solidFill>
              </a:rPr>
              <a:t>json_decode</a:t>
            </a:r>
            <a:r>
              <a:rPr lang="en-US" sz="1700" i="1" dirty="0">
                <a:solidFill>
                  <a:schemeClr val="dk1"/>
                </a:solidFill>
              </a:rPr>
              <a:t>()</a:t>
            </a:r>
            <a:endParaRPr sz="1700" i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321" name="Google Shape;321;g3bb2089c20e_0_16"/>
          <p:cNvSpPr txBox="1"/>
          <p:nvPr/>
        </p:nvSpPr>
        <p:spPr>
          <a:xfrm>
            <a:off x="9486025" y="6418250"/>
            <a:ext cx="21150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Srinivasu CH</a:t>
            </a:r>
            <a:endParaRPr sz="1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4007</Words>
  <Application>Microsoft Office PowerPoint</Application>
  <PresentationFormat>Widescreen</PresentationFormat>
  <Paragraphs>584</Paragraphs>
  <Slides>39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Consolas</vt:lpstr>
      <vt:lpstr>Verdana</vt:lpstr>
      <vt:lpstr>Wingdings</vt:lpstr>
      <vt:lpstr>Courier New</vt:lpstr>
      <vt:lpstr>Arimo</vt:lpstr>
      <vt:lpstr>Calibri</vt:lpstr>
      <vt:lpstr>Arial Unicode MS</vt:lpstr>
      <vt:lpstr>Cascadia Code</vt:lpstr>
      <vt:lpstr>Noto Sans Symbols</vt:lpstr>
      <vt:lpstr>Arial</vt:lpstr>
      <vt:lpstr>Quattrocento Sans</vt:lpstr>
      <vt:lpstr>Office Theme</vt:lpstr>
      <vt:lpstr>Hypertext Preprocessor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vasu ch</dc:creator>
  <cp:lastModifiedBy>vasu ch</cp:lastModifiedBy>
  <cp:revision>6</cp:revision>
  <dcterms:created xsi:type="dcterms:W3CDTF">2024-03-05T09:39:24Z</dcterms:created>
  <dcterms:modified xsi:type="dcterms:W3CDTF">2026-02-09T06:38:48Z</dcterms:modified>
</cp:coreProperties>
</file>